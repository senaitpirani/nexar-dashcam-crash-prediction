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Roboto Medium"/>
      <p:regular r:id="rId41"/>
      <p:bold r:id="rId42"/>
      <p:italic r:id="rId43"/>
      <p:boldItalic r:id="rId44"/>
    </p:embeddedFont>
    <p:embeddedFont>
      <p:font typeface="Libre Baskerville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RobotoMedium-bold.fntdata"/><Relationship Id="rId41" Type="http://schemas.openxmlformats.org/officeDocument/2006/relationships/font" Target="fonts/RobotoMedium-regular.fntdata"/><Relationship Id="rId44" Type="http://schemas.openxmlformats.org/officeDocument/2006/relationships/font" Target="fonts/RobotoMedium-boldItalic.fntdata"/><Relationship Id="rId43" Type="http://schemas.openxmlformats.org/officeDocument/2006/relationships/font" Target="fonts/RobotoMedium-italic.fntdata"/><Relationship Id="rId46" Type="http://schemas.openxmlformats.org/officeDocument/2006/relationships/font" Target="fonts/LibreBaskerville-bold.fntdata"/><Relationship Id="rId45" Type="http://schemas.openxmlformats.org/officeDocument/2006/relationships/font" Target="fonts/LibreBaskerville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LibreBaskerville-boldItalic.fntdata"/><Relationship Id="rId47" Type="http://schemas.openxmlformats.org/officeDocument/2006/relationships/font" Target="fonts/LibreBaskervill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oboto-regular.fntdata"/><Relationship Id="rId36" Type="http://schemas.openxmlformats.org/officeDocument/2006/relationships/slide" Target="slides/slide30.xml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43e013cd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43e013cd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43e013cdc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43e013cdc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Eleanor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expand on this and talk about why this is important and what it could be used for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4ca8fc9b1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4ca8fc9b1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Eleanor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4ca8fc9b1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4ca8fc9b1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Eleanor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4ca8fc9b1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4ca8fc9b1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Eleanor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4ca8fc9b1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4ca8fc9b1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Eleanor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4ca8fc9b1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4ca8fc9b1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4ca8fc9b1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4ca8fc9b1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4ca8fc9b1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4ca8fc9b1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4ca8fc9b1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4ca8fc9b1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4ca8fc9b1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4ca8fc9b1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4db33f82a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4db33f82a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4db33f82a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4db33f82a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4db33f82af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4db33f82af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4db33f82af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4db33f82a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4df1da3bc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4df1da3bc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4df1da3bc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4df1da3bc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4db33f82af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4db33f82af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4db33f82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4db33f82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4db33f82a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4db33f82a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4db33f82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4db33f82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Senait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4db33f82a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4db33f82a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4db33f82a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4db33f82a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4db33f82af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4db33f82af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4db33f82af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4db33f82af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4db33f82af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4db33f82af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4db33f82af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4db33f82af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4db33f82af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4db33f82af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4e346a74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4e346a74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4e346a74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4e346a74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1" name="Google Shape;191;p36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99" name="Google Shape;199;p3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8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7" name="Google Shape;207;p38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2" name="Google Shape;212;p38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13" name="Google Shape;21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6" name="Google Shape;216;p38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7" name="Google Shape;217;p38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8" name="Google Shape;218;p38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38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5" name="Google Shape;225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9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5" name="Google Shape;235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" name="Google Shape;238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0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41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5" name="Google Shape;265;p41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67" name="Google Shape;267;p4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7" name="Google Shape;287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1" name="Google Shape;291;p43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3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3" name="Google Shape;303;p4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320" name="Google Shape;320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8" name="Google Shape;328;p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0" name="Google Shape;330;p46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46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34" name="Google Shape;334;p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47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46" name="Google Shape;346;p4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48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7" name="Google Shape;357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9" name="Google Shape;359;p48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0" name="Google Shape;360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65" name="Google Shape;365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5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0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78" name="Google Shape;378;p5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1" name="Google Shape;381;p5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2" name="Google Shape;382;p5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5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4" name="Google Shape;384;p5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5" name="Google Shape;385;p5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6" name="Google Shape;386;p5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8" name="Google Shape;388;p5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5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0" name="Google Shape;390;p5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1" name="Google Shape;391;p5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2" name="Google Shape;392;p5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5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0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00" name="Google Shape;400;p50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02" name="Google Shape;402;p50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1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409" name="Google Shape;409;p5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51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2" name="Google Shape;412;p51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1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1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1" name="Google Shape;421;p51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2" name="Google Shape;422;p51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3" name="Google Shape;423;p51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4" name="Google Shape;424;p51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30" name="Google Shape;430;p5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33" name="Google Shape;433;p52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2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2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2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2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9" name="Google Shape;439;p52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52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52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2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52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4" name="Google Shape;444;p52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5" name="Google Shape;445;p52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52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8" name="Google Shape;448;p52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52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0" name="Google Shape;450;p52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1" name="Google Shape;451;p52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52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5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58" name="Google Shape;458;p5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3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53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4" name="Google Shape;464;p53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53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6" name="Google Shape;466;p53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7" name="Google Shape;467;p53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53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9" name="Google Shape;469;p53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3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3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53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3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53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53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6" name="Google Shape;476;p5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4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83" name="Google Shape;483;p5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5" name="Google Shape;485;p5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6" name="Google Shape;486;p54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4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96" name="Google Shape;496;p5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5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9" name="Google Shape;499;p55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5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5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5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5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4" name="Google Shape;504;p5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6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56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11" name="Google Shape;511;p5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5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9" name="Google Shape;519;p57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2" name="Google Shape;522;p5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5" name="Google Shape;525;p5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8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2" name="Google Shape;532;p59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59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9" name="Google Shape;539;p59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59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0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45" name="Google Shape;545;p6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6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48" name="Google Shape;548;p60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60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0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60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3" name="Google Shape;553;p60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5" name="Google Shape;555;p60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7" name="Google Shape;557;p60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6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6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5" name="Google Shape;565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6" name="Google Shape;566;p61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1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0" name="Google Shape;570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6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30.png"/><Relationship Id="rId9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9.png"/><Relationship Id="rId8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2" title="Screenshot 2025-03-26 at 9.18.59 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578" l="0" r="0" t="30915"/>
          <a:stretch/>
        </p:blipFill>
        <p:spPr>
          <a:xfrm>
            <a:off x="125700" y="125600"/>
            <a:ext cx="8892900" cy="2865600"/>
          </a:xfrm>
          <a:prstGeom prst="roundRect">
            <a:avLst>
              <a:gd fmla="val 16667" name="adj"/>
            </a:avLst>
          </a:prstGeom>
        </p:spPr>
      </p:pic>
      <p:sp>
        <p:nvSpPr>
          <p:cNvPr id="580" name="Google Shape;580;p62"/>
          <p:cNvSpPr txBox="1"/>
          <p:nvPr>
            <p:ph type="title"/>
          </p:nvPr>
        </p:nvSpPr>
        <p:spPr>
          <a:xfrm>
            <a:off x="125700" y="3030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Nexar Dashcam Crash Prediction Challenge</a:t>
            </a:r>
            <a:endParaRPr/>
          </a:p>
        </p:txBody>
      </p:sp>
      <p:sp>
        <p:nvSpPr>
          <p:cNvPr id="581" name="Google Shape;581;p62"/>
          <p:cNvSpPr txBox="1"/>
          <p:nvPr>
            <p:ph idx="1" type="subTitle"/>
          </p:nvPr>
        </p:nvSpPr>
        <p:spPr>
          <a:xfrm>
            <a:off x="6112175" y="3030900"/>
            <a:ext cx="2906400" cy="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Eleanor Madderra,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Senait Pirani,</a:t>
            </a:r>
            <a:endParaRPr b="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Anastasiya Peravalava</a:t>
            </a:r>
            <a:endParaRPr b="0"/>
          </a:p>
        </p:txBody>
      </p:sp>
      <p:sp>
        <p:nvSpPr>
          <p:cNvPr id="582" name="Google Shape;582;p62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Kaggle </a:t>
            </a:r>
            <a:r>
              <a:rPr lang="en"/>
              <a:t>Competition</a:t>
            </a:r>
            <a:endParaRPr/>
          </a:p>
        </p:txBody>
      </p:sp>
      <p:sp>
        <p:nvSpPr>
          <p:cNvPr id="583" name="Google Shape;583;p62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3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63"/>
          <p:cNvSpPr/>
          <p:nvPr/>
        </p:nvSpPr>
        <p:spPr>
          <a:xfrm>
            <a:off x="353100" y="1214300"/>
            <a:ext cx="8437800" cy="333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63"/>
          <p:cNvSpPr txBox="1"/>
          <p:nvPr>
            <p:ph type="title"/>
          </p:nvPr>
        </p:nvSpPr>
        <p:spPr>
          <a:xfrm>
            <a:off x="506700" y="2018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Intro</a:t>
            </a:r>
            <a:endParaRPr sz="5300"/>
          </a:p>
        </p:txBody>
      </p:sp>
      <p:sp>
        <p:nvSpPr>
          <p:cNvPr id="591" name="Google Shape;591;p63"/>
          <p:cNvSpPr txBox="1"/>
          <p:nvPr>
            <p:ph idx="3" type="body"/>
          </p:nvPr>
        </p:nvSpPr>
        <p:spPr>
          <a:xfrm>
            <a:off x="899250" y="1394750"/>
            <a:ext cx="73455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</a:t>
            </a:r>
            <a:r>
              <a:rPr lang="en" sz="1700"/>
              <a:t>attempted</a:t>
            </a:r>
            <a:r>
              <a:rPr lang="en" sz="1700"/>
              <a:t> a Kaggle </a:t>
            </a:r>
            <a:r>
              <a:rPr lang="en" sz="1700"/>
              <a:t>competition</a:t>
            </a:r>
            <a:r>
              <a:rPr lang="en" sz="1700"/>
              <a:t>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Our goal was to develop a model that could accurately predict if a dashcam video contained a vehicle collision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This could be helpful with the </a:t>
            </a:r>
            <a:r>
              <a:rPr lang="en" sz="1700"/>
              <a:t>training of</a:t>
            </a:r>
            <a:r>
              <a:rPr lang="en" sz="1700"/>
              <a:t> self driving cars or driver assistance systems</a:t>
            </a:r>
            <a:endParaRPr sz="1700"/>
          </a:p>
        </p:txBody>
      </p:sp>
      <p:pic>
        <p:nvPicPr>
          <p:cNvPr id="592" name="Google Shape;592;p63" title="Screenshot 2025-03-26 at 9.18.59 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7" l="0" r="0" t="26747"/>
          <a:stretch/>
        </p:blipFill>
        <p:spPr>
          <a:xfrm>
            <a:off x="3803000" y="2831146"/>
            <a:ext cx="3804600" cy="15351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4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64"/>
          <p:cNvSpPr/>
          <p:nvPr/>
        </p:nvSpPr>
        <p:spPr>
          <a:xfrm>
            <a:off x="353100" y="1214300"/>
            <a:ext cx="4899000" cy="333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64"/>
          <p:cNvSpPr txBox="1"/>
          <p:nvPr>
            <p:ph type="title"/>
          </p:nvPr>
        </p:nvSpPr>
        <p:spPr>
          <a:xfrm>
            <a:off x="278100" y="278000"/>
            <a:ext cx="56358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Our Training Data</a:t>
            </a:r>
            <a:endParaRPr sz="4300"/>
          </a:p>
        </p:txBody>
      </p:sp>
      <p:sp>
        <p:nvSpPr>
          <p:cNvPr id="600" name="Google Shape;600;p64"/>
          <p:cNvSpPr txBox="1"/>
          <p:nvPr>
            <p:ph idx="3" type="body"/>
          </p:nvPr>
        </p:nvSpPr>
        <p:spPr>
          <a:xfrm>
            <a:off x="602225" y="1394750"/>
            <a:ext cx="43059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Our training data contains 1,500 dashcam videos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Each video is approximately 40 seconds long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Each video is 30 frames per second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Each video has a resolution of 1280x720</a:t>
            </a:r>
            <a:endParaRPr sz="1700"/>
          </a:p>
        </p:txBody>
      </p:sp>
      <p:pic>
        <p:nvPicPr>
          <p:cNvPr id="601" name="Google Shape;601;p64" title="Screenshot 2025-04-15 at 2.35.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644" y="2783350"/>
            <a:ext cx="3470380" cy="19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4" title="Screenshot 2025-04-15 at 2.35.0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012" y="125600"/>
            <a:ext cx="2875658" cy="25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5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65"/>
          <p:cNvSpPr/>
          <p:nvPr/>
        </p:nvSpPr>
        <p:spPr>
          <a:xfrm>
            <a:off x="353100" y="1214300"/>
            <a:ext cx="4899000" cy="333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65"/>
          <p:cNvSpPr txBox="1"/>
          <p:nvPr>
            <p:ph type="title"/>
          </p:nvPr>
        </p:nvSpPr>
        <p:spPr>
          <a:xfrm>
            <a:off x="278100" y="278000"/>
            <a:ext cx="56268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Our Training Data</a:t>
            </a:r>
            <a:endParaRPr sz="4300"/>
          </a:p>
        </p:txBody>
      </p:sp>
      <p:sp>
        <p:nvSpPr>
          <p:cNvPr id="610" name="Google Shape;610;p65"/>
          <p:cNvSpPr txBox="1"/>
          <p:nvPr>
            <p:ph idx="3" type="body"/>
          </p:nvPr>
        </p:nvSpPr>
        <p:spPr>
          <a:xfrm>
            <a:off x="602225" y="1394750"/>
            <a:ext cx="43059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Each video falls into one of two categories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Positive:</a:t>
            </a:r>
            <a:r>
              <a:rPr lang="en" sz="1700"/>
              <a:t> a collision occurs or nearly occurs (target = 1)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Negative: </a:t>
            </a:r>
            <a:r>
              <a:rPr lang="en" sz="1700"/>
              <a:t>normal driving with no incidents (target = 0)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training data contains 750 positive and 750 negative videos 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11" name="Google Shape;611;p65" title="Screenshot 2025-04-15 at 2.35.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644" y="2783350"/>
            <a:ext cx="3470380" cy="19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65" title="Screenshot 2025-04-15 at 2.35.0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012" y="125600"/>
            <a:ext cx="2875658" cy="25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6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66"/>
          <p:cNvSpPr/>
          <p:nvPr/>
        </p:nvSpPr>
        <p:spPr>
          <a:xfrm>
            <a:off x="353100" y="1135325"/>
            <a:ext cx="48990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66"/>
          <p:cNvSpPr txBox="1"/>
          <p:nvPr>
            <p:ph type="title"/>
          </p:nvPr>
        </p:nvSpPr>
        <p:spPr>
          <a:xfrm>
            <a:off x="278100" y="278000"/>
            <a:ext cx="53511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Our Training Data</a:t>
            </a:r>
            <a:endParaRPr sz="4100"/>
          </a:p>
        </p:txBody>
      </p:sp>
      <p:sp>
        <p:nvSpPr>
          <p:cNvPr id="620" name="Google Shape;620;p66"/>
          <p:cNvSpPr txBox="1"/>
          <p:nvPr>
            <p:ph idx="3" type="body"/>
          </p:nvPr>
        </p:nvSpPr>
        <p:spPr>
          <a:xfrm>
            <a:off x="483750" y="1242350"/>
            <a:ext cx="4550100" cy="29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For positive cases, two timestamps are provided: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Event time: </a:t>
            </a:r>
            <a:r>
              <a:rPr lang="en" sz="1700"/>
              <a:t>indicates when the collision or near-miss occurs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Alert time:</a:t>
            </a:r>
            <a:r>
              <a:rPr lang="en" sz="1700"/>
              <a:t> marks the earliest moment that action should be taken to prevent the accident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On average, there are </a:t>
            </a:r>
            <a:r>
              <a:rPr b="1" lang="en" sz="1700"/>
              <a:t>less than 2 seconds</a:t>
            </a:r>
            <a:r>
              <a:rPr lang="en" sz="1700"/>
              <a:t> </a:t>
            </a:r>
            <a:r>
              <a:rPr lang="en" sz="1700"/>
              <a:t>between</a:t>
            </a:r>
            <a:r>
              <a:rPr lang="en" sz="1700"/>
              <a:t> the earliest time of possible identification and the time of the event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21" name="Google Shape;621;p66" title="Screenshot 2025-04-15 at 2.35.3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319" y="149975"/>
            <a:ext cx="3470380" cy="19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0962" y="2346254"/>
            <a:ext cx="3323725" cy="2647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7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67"/>
          <p:cNvSpPr/>
          <p:nvPr/>
        </p:nvSpPr>
        <p:spPr>
          <a:xfrm>
            <a:off x="276900" y="1135325"/>
            <a:ext cx="57057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67"/>
          <p:cNvSpPr txBox="1"/>
          <p:nvPr>
            <p:ph type="title"/>
          </p:nvPr>
        </p:nvSpPr>
        <p:spPr>
          <a:xfrm>
            <a:off x="354300" y="201800"/>
            <a:ext cx="53511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Isolate Frames</a:t>
            </a:r>
            <a:endParaRPr sz="4100"/>
          </a:p>
        </p:txBody>
      </p:sp>
      <p:sp>
        <p:nvSpPr>
          <p:cNvPr id="630" name="Google Shape;630;p67"/>
          <p:cNvSpPr txBox="1"/>
          <p:nvPr>
            <p:ph idx="3" type="body"/>
          </p:nvPr>
        </p:nvSpPr>
        <p:spPr>
          <a:xfrm>
            <a:off x="385025" y="1242350"/>
            <a:ext cx="48078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To be able to completely analyze our dashcam videos we needed to first be able to isolate each frame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created a simple function using OpenCV that can read the video and extract frames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function accepts the video path and the number of frames to print out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Divides the total number of frames by the number of frames to print out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31" name="Google Shape;63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275" y="140563"/>
            <a:ext cx="2578825" cy="48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7" title="Screenshot 2025-04-15 at 3.08.41 PM.png"/>
          <p:cNvPicPr preferRelativeResize="0"/>
          <p:nvPr/>
        </p:nvPicPr>
        <p:blipFill rotWithShape="1">
          <a:blip r:embed="rId4">
            <a:alphaModFix/>
          </a:blip>
          <a:srcRect b="65250" l="0" r="0" t="0"/>
          <a:stretch/>
        </p:blipFill>
        <p:spPr>
          <a:xfrm>
            <a:off x="2441600" y="4325049"/>
            <a:ext cx="3811950" cy="59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68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68"/>
          <p:cNvSpPr/>
          <p:nvPr/>
        </p:nvSpPr>
        <p:spPr>
          <a:xfrm>
            <a:off x="276900" y="1135325"/>
            <a:ext cx="60810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68"/>
          <p:cNvSpPr txBox="1"/>
          <p:nvPr>
            <p:ph type="title"/>
          </p:nvPr>
        </p:nvSpPr>
        <p:spPr>
          <a:xfrm>
            <a:off x="354300" y="201800"/>
            <a:ext cx="53511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Optical Flow</a:t>
            </a:r>
            <a:endParaRPr sz="4100"/>
          </a:p>
        </p:txBody>
      </p:sp>
      <p:sp>
        <p:nvSpPr>
          <p:cNvPr id="640" name="Google Shape;640;p68"/>
          <p:cNvSpPr txBox="1"/>
          <p:nvPr>
            <p:ph idx="3" type="body"/>
          </p:nvPr>
        </p:nvSpPr>
        <p:spPr>
          <a:xfrm>
            <a:off x="404775" y="1242350"/>
            <a:ext cx="58149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analyzed our frames using optical flow 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An optical flow output consists of an array of flow magnitudes, representing how much pixels move between frames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Low values indicate smooth motion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Common in normal driving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High values represent fast movement or </a:t>
            </a:r>
            <a:r>
              <a:rPr lang="en" sz="1600"/>
              <a:t>sudden</a:t>
            </a:r>
            <a:r>
              <a:rPr lang="en" sz="1600"/>
              <a:t> changes 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could be linked to hard braking, swerving, or collisions 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This could help us determine the difference between a positive and negative video (safe vs unsafe dashcam footage)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41" name="Google Shape;641;p68" title="Screenshot 2025-04-23 at 1.00.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801" y="1551321"/>
            <a:ext cx="2390199" cy="447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68" title="Screenshot 2025-04-23 at 1.00.4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8100" y="2383316"/>
            <a:ext cx="2265600" cy="1829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9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69"/>
          <p:cNvSpPr/>
          <p:nvPr/>
        </p:nvSpPr>
        <p:spPr>
          <a:xfrm>
            <a:off x="276900" y="1135325"/>
            <a:ext cx="60810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69"/>
          <p:cNvSpPr txBox="1"/>
          <p:nvPr>
            <p:ph type="title"/>
          </p:nvPr>
        </p:nvSpPr>
        <p:spPr>
          <a:xfrm>
            <a:off x="354300" y="201800"/>
            <a:ext cx="53511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Edge Detection</a:t>
            </a:r>
            <a:endParaRPr sz="4100"/>
          </a:p>
        </p:txBody>
      </p:sp>
      <p:sp>
        <p:nvSpPr>
          <p:cNvPr id="650" name="Google Shape;650;p69"/>
          <p:cNvSpPr txBox="1"/>
          <p:nvPr>
            <p:ph idx="3" type="body"/>
          </p:nvPr>
        </p:nvSpPr>
        <p:spPr>
          <a:xfrm>
            <a:off x="404775" y="1242350"/>
            <a:ext cx="56271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Canny Edge Detection is applied to the extracted frames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Converts each frame to </a:t>
            </a:r>
            <a:r>
              <a:rPr lang="en" sz="1700"/>
              <a:t>grayscale</a:t>
            </a:r>
            <a:r>
              <a:rPr lang="en" sz="1700"/>
              <a:t> and highlights sharp intensity changes (edges)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White lines represent </a:t>
            </a:r>
            <a:r>
              <a:rPr lang="en" sz="1700"/>
              <a:t>detected</a:t>
            </a:r>
            <a:r>
              <a:rPr lang="en" sz="1700"/>
              <a:t> edges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Black areas represent regions with no significant edge or intensity change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Helps identify key objects and </a:t>
            </a:r>
            <a:r>
              <a:rPr lang="en" sz="1700"/>
              <a:t>structural</a:t>
            </a:r>
            <a:r>
              <a:rPr lang="en" sz="1700"/>
              <a:t> changes in our scene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Vehicles, </a:t>
            </a:r>
            <a:r>
              <a:rPr lang="en" sz="1700"/>
              <a:t>road/lane</a:t>
            </a:r>
            <a:r>
              <a:rPr lang="en" sz="1700"/>
              <a:t> boundaries, crosswalks, pedestrians, etc. 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51" name="Google Shape;651;p69" title="Screenshot 2025-04-15 at 3.12.2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875" y="152400"/>
            <a:ext cx="2406725" cy="482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0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70"/>
          <p:cNvSpPr/>
          <p:nvPr/>
        </p:nvSpPr>
        <p:spPr>
          <a:xfrm>
            <a:off x="276900" y="1135325"/>
            <a:ext cx="52023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70"/>
          <p:cNvSpPr txBox="1"/>
          <p:nvPr>
            <p:ph type="title"/>
          </p:nvPr>
        </p:nvSpPr>
        <p:spPr>
          <a:xfrm>
            <a:off x="354300" y="201800"/>
            <a:ext cx="53511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Edge Detection</a:t>
            </a:r>
            <a:endParaRPr sz="4100"/>
          </a:p>
        </p:txBody>
      </p:sp>
      <p:sp>
        <p:nvSpPr>
          <p:cNvPr id="659" name="Google Shape;659;p70"/>
          <p:cNvSpPr txBox="1"/>
          <p:nvPr>
            <p:ph idx="3" type="body"/>
          </p:nvPr>
        </p:nvSpPr>
        <p:spPr>
          <a:xfrm>
            <a:off x="354300" y="1166150"/>
            <a:ext cx="50457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The X-axis (frame index) represents time</a:t>
            </a:r>
            <a:endParaRPr sz="1300"/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Showing how edge activity </a:t>
            </a:r>
            <a:r>
              <a:rPr lang="en" sz="1300"/>
              <a:t>changes</a:t>
            </a:r>
            <a:r>
              <a:rPr lang="en" sz="1300"/>
              <a:t> over the video sequence </a:t>
            </a:r>
            <a:endParaRPr sz="1300"/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The Y-axis (edge density score) quantifies how many edges are present in each frame </a:t>
            </a:r>
            <a:endParaRPr sz="1300"/>
          </a:p>
          <a:p>
            <a:pPr indent="-3111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</a:t>
            </a:r>
            <a:r>
              <a:rPr lang="en" sz="1300"/>
              <a:t>nterpret</a:t>
            </a:r>
            <a:r>
              <a:rPr lang="en" sz="1300"/>
              <a:t>: </a:t>
            </a:r>
            <a:endParaRPr sz="1300"/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Low, stable edge density</a:t>
            </a:r>
            <a:endParaRPr sz="1300"/>
          </a:p>
          <a:p>
            <a:pPr indent="-3111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Smooth driving on open road</a:t>
            </a:r>
            <a:endParaRPr sz="1300"/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Sharp peak in edge density</a:t>
            </a:r>
            <a:endParaRPr sz="1300"/>
          </a:p>
          <a:p>
            <a:pPr indent="-3111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A sudden change</a:t>
            </a:r>
            <a:endParaRPr sz="1300"/>
          </a:p>
          <a:p>
            <a:pPr indent="-3111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Could represent a near miss or collision</a:t>
            </a:r>
            <a:endParaRPr sz="1300"/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Drop after a peak</a:t>
            </a:r>
            <a:endParaRPr sz="1300"/>
          </a:p>
          <a:p>
            <a:pPr indent="-3111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Possible post-collision stabilization </a:t>
            </a:r>
            <a:endParaRPr sz="1300"/>
          </a:p>
          <a:p>
            <a:pPr indent="-3111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Car stops moving and </a:t>
            </a:r>
            <a:r>
              <a:rPr lang="en" sz="1300"/>
              <a:t>surroundings</a:t>
            </a:r>
            <a:r>
              <a:rPr lang="en" sz="1300"/>
              <a:t> stop changing</a:t>
            </a:r>
            <a:endParaRPr sz="13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660" name="Google Shape;660;p70"/>
          <p:cNvPicPr preferRelativeResize="0"/>
          <p:nvPr/>
        </p:nvPicPr>
        <p:blipFill rotWithShape="1">
          <a:blip r:embed="rId3">
            <a:alphaModFix/>
          </a:blip>
          <a:srcRect b="0" l="0" r="24987" t="27252"/>
          <a:stretch/>
        </p:blipFill>
        <p:spPr>
          <a:xfrm>
            <a:off x="5646425" y="1678300"/>
            <a:ext cx="3306150" cy="25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1"/>
          <p:cNvSpPr/>
          <p:nvPr/>
        </p:nvSpPr>
        <p:spPr>
          <a:xfrm>
            <a:off x="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71"/>
          <p:cNvSpPr/>
          <p:nvPr/>
        </p:nvSpPr>
        <p:spPr>
          <a:xfrm>
            <a:off x="276900" y="1135325"/>
            <a:ext cx="47571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71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Extract Video Features</a:t>
            </a:r>
            <a:endParaRPr sz="4100"/>
          </a:p>
        </p:txBody>
      </p:sp>
      <p:sp>
        <p:nvSpPr>
          <p:cNvPr id="668" name="Google Shape;668;p71"/>
          <p:cNvSpPr txBox="1"/>
          <p:nvPr>
            <p:ph idx="3" type="body"/>
          </p:nvPr>
        </p:nvSpPr>
        <p:spPr>
          <a:xfrm>
            <a:off x="404775" y="1242350"/>
            <a:ext cx="4503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created a function that would extract our video features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Takes the video path and the number of frames 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Some videos are longer than others but will analyze the same number of frames for all videos 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did this for the sake of time</a:t>
            </a:r>
            <a:endParaRPr sz="1700"/>
          </a:p>
          <a:p>
            <a:pPr indent="-336550" lvl="2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All videos will take around the same amount of time to analyze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69" name="Google Shape;669;p71" title="Screenshot 2025-04-20 at 6.08.1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2475" y="1854925"/>
            <a:ext cx="3795826" cy="10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71" title="Screenshot 2025-04-20 at 7.05.3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3975" y="3141188"/>
            <a:ext cx="3795825" cy="579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72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72"/>
          <p:cNvSpPr/>
          <p:nvPr/>
        </p:nvSpPr>
        <p:spPr>
          <a:xfrm>
            <a:off x="276900" y="1135325"/>
            <a:ext cx="44667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72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Create Sample Set</a:t>
            </a:r>
            <a:endParaRPr sz="4100"/>
          </a:p>
        </p:txBody>
      </p:sp>
      <p:sp>
        <p:nvSpPr>
          <p:cNvPr id="678" name="Google Shape;678;p72"/>
          <p:cNvSpPr txBox="1"/>
          <p:nvPr>
            <p:ph idx="3" type="body"/>
          </p:nvPr>
        </p:nvSpPr>
        <p:spPr>
          <a:xfrm>
            <a:off x="404775" y="1242350"/>
            <a:ext cx="39390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During our earlier tests we created our models using small sample sizes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started with 50 safe examples and 50 unsafe examples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This helped us save on time since each time we ran the program it took a long time to run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This way we could spend more time experimenting and less time waiting 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79" name="Google Shape;679;p72" title="Screenshot 2025-04-20 at 7.46.1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775" y="2407475"/>
            <a:ext cx="4646083" cy="9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3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73"/>
          <p:cNvSpPr/>
          <p:nvPr/>
        </p:nvSpPr>
        <p:spPr>
          <a:xfrm>
            <a:off x="276900" y="1135325"/>
            <a:ext cx="49257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73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687" name="Google Shape;687;p73"/>
          <p:cNvSpPr txBox="1"/>
          <p:nvPr>
            <p:ph idx="3" type="body"/>
          </p:nvPr>
        </p:nvSpPr>
        <p:spPr>
          <a:xfrm>
            <a:off x="404775" y="1242350"/>
            <a:ext cx="4503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Then we used our extract_video_features function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looped through our sample and got the features for each video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In this example we analyzed 15 frames per video but we played around with this number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had to take how long the program takes to run into account 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88" name="Google Shape;688;p73"/>
          <p:cNvPicPr preferRelativeResize="0"/>
          <p:nvPr/>
        </p:nvPicPr>
        <p:blipFill rotWithShape="1">
          <a:blip r:embed="rId3">
            <a:alphaModFix/>
          </a:blip>
          <a:srcRect b="56307" l="0" r="51189" t="0"/>
          <a:stretch/>
        </p:blipFill>
        <p:spPr>
          <a:xfrm>
            <a:off x="5397350" y="3038025"/>
            <a:ext cx="3576851" cy="155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73" title="Screenshot 2025-04-20 at 8.25.0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5300" y="1077625"/>
            <a:ext cx="3620950" cy="1839836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73"/>
          <p:cNvSpPr/>
          <p:nvPr/>
        </p:nvSpPr>
        <p:spPr>
          <a:xfrm>
            <a:off x="7838650" y="2616175"/>
            <a:ext cx="207300" cy="2073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74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74"/>
          <p:cNvSpPr/>
          <p:nvPr/>
        </p:nvSpPr>
        <p:spPr>
          <a:xfrm>
            <a:off x="276900" y="1135325"/>
            <a:ext cx="49257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74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698" name="Google Shape;698;p74"/>
          <p:cNvSpPr txBox="1"/>
          <p:nvPr>
            <p:ph idx="3" type="body"/>
          </p:nvPr>
        </p:nvSpPr>
        <p:spPr>
          <a:xfrm>
            <a:off x="328575" y="1242350"/>
            <a:ext cx="47979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did encounter a problem during this step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Whenever we ran the model our accuracy and AUC scores would be exactly 0.5 or 1.0 which didn’t seem right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After some debugging we discovered that the loop was building the file path using a float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Ex. 1875.0 instead of 1875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Once we fixed this we started seeing some real data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99" name="Google Shape;699;p74"/>
          <p:cNvPicPr preferRelativeResize="0"/>
          <p:nvPr/>
        </p:nvPicPr>
        <p:blipFill rotWithShape="1">
          <a:blip r:embed="rId3">
            <a:alphaModFix/>
          </a:blip>
          <a:srcRect b="44565" l="0" r="53460" t="0"/>
          <a:stretch/>
        </p:blipFill>
        <p:spPr>
          <a:xfrm>
            <a:off x="5379425" y="1090175"/>
            <a:ext cx="3594775" cy="16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74"/>
          <p:cNvPicPr preferRelativeResize="0"/>
          <p:nvPr/>
        </p:nvPicPr>
        <p:blipFill rotWithShape="1">
          <a:blip r:embed="rId4">
            <a:alphaModFix/>
          </a:blip>
          <a:srcRect b="56307" l="0" r="51189" t="0"/>
          <a:stretch/>
        </p:blipFill>
        <p:spPr>
          <a:xfrm>
            <a:off x="5397350" y="2961825"/>
            <a:ext cx="3576851" cy="155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4" title="Screenshot 2025-04-20 at 8.33.04 PM.png"/>
          <p:cNvPicPr preferRelativeResize="0"/>
          <p:nvPr/>
        </p:nvPicPr>
        <p:blipFill rotWithShape="1">
          <a:blip r:embed="rId5">
            <a:alphaModFix/>
          </a:blip>
          <a:srcRect b="0" l="21954" r="0" t="0"/>
          <a:stretch/>
        </p:blipFill>
        <p:spPr>
          <a:xfrm>
            <a:off x="7469350" y="274100"/>
            <a:ext cx="1504850" cy="6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5"/>
          <p:cNvSpPr/>
          <p:nvPr/>
        </p:nvSpPr>
        <p:spPr>
          <a:xfrm>
            <a:off x="-7150" y="2188575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75"/>
          <p:cNvSpPr/>
          <p:nvPr/>
        </p:nvSpPr>
        <p:spPr>
          <a:xfrm>
            <a:off x="276900" y="11353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75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709" name="Google Shape;709;p75"/>
          <p:cNvSpPr txBox="1"/>
          <p:nvPr>
            <p:ph idx="3" type="body"/>
          </p:nvPr>
        </p:nvSpPr>
        <p:spPr>
          <a:xfrm>
            <a:off x="328575" y="1242350"/>
            <a:ext cx="5091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</a:t>
            </a:r>
            <a:r>
              <a:rPr lang="en" sz="1600"/>
              <a:t>ptical flow: m</a:t>
            </a:r>
            <a:r>
              <a:rPr lang="en" sz="1600"/>
              <a:t>ean magnitude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average speed of motion in the video 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compute optical flow between each pair of consecutive frames 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Then find the mean of those </a:t>
            </a:r>
            <a:r>
              <a:rPr lang="en" sz="1600"/>
              <a:t>magnitudes</a:t>
            </a:r>
            <a:r>
              <a:rPr lang="en" sz="1600"/>
              <a:t> for the entire video  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Optical flow: </a:t>
            </a:r>
            <a:r>
              <a:rPr lang="en" sz="1600"/>
              <a:t>magnitude</a:t>
            </a:r>
            <a:r>
              <a:rPr lang="en" sz="1600"/>
              <a:t> standard deviation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much the overall motion speed varies frame to frame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compute optical flow between each pair of consecutive frames then take the standard deviation of those magnitudes 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10" name="Google Shape;710;p75" title="Screenshot 2025-04-21 at 7.0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300" y="1497187"/>
            <a:ext cx="3362451" cy="2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6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76"/>
          <p:cNvSpPr/>
          <p:nvPr/>
        </p:nvSpPr>
        <p:spPr>
          <a:xfrm>
            <a:off x="276900" y="11353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76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718" name="Google Shape;718;p76"/>
          <p:cNvSpPr txBox="1"/>
          <p:nvPr>
            <p:ph idx="3" type="body"/>
          </p:nvPr>
        </p:nvSpPr>
        <p:spPr>
          <a:xfrm>
            <a:off x="328575" y="1242350"/>
            <a:ext cx="5091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</a:t>
            </a:r>
            <a:r>
              <a:rPr lang="en" sz="1600"/>
              <a:t>ptical flow: m</a:t>
            </a:r>
            <a:r>
              <a:rPr lang="en" sz="1600"/>
              <a:t>ean of per-frame standard deviation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average spread of motion across each frame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Allows us to detect sudden and chaotic motion patterns 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</a:t>
            </a:r>
            <a:r>
              <a:rPr lang="en" sz="1600"/>
              <a:t>ptical flow: m</a:t>
            </a:r>
            <a:r>
              <a:rPr lang="en" sz="1600"/>
              <a:t>aximum magnitude 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Signifies the strongest motion captured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Captures motions that would signify a crash or almost crash like collision or slam on brake 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19" name="Google Shape;719;p76" title="Screenshot 2025-04-21 at 7.0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300" y="1497187"/>
            <a:ext cx="3362451" cy="2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7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77"/>
          <p:cNvSpPr/>
          <p:nvPr/>
        </p:nvSpPr>
        <p:spPr>
          <a:xfrm>
            <a:off x="276900" y="11353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77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727" name="Google Shape;727;p77"/>
          <p:cNvSpPr txBox="1"/>
          <p:nvPr>
            <p:ph idx="3" type="body"/>
          </p:nvPr>
        </p:nvSpPr>
        <p:spPr>
          <a:xfrm>
            <a:off x="328575" y="1166150"/>
            <a:ext cx="5091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Optical flow: </a:t>
            </a:r>
            <a:r>
              <a:rPr lang="en"/>
              <a:t>Average </a:t>
            </a:r>
            <a:r>
              <a:rPr lang="en"/>
              <a:t>horizontal/vertical motion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(horizontal) will signify a change or drift in lanes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(vertical) if there is vertical motion, meaning the camera has up and down movement, it can indicate a crash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Edge density: mean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This number tells us the proportion of pixels that are edges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Identifies how busy the road is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Edge density: standard deviation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Measures the spread of the edge density along the frames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higher the value indicates more objects coming into view or going out of view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8" name="Google Shape;728;p77" title="Screenshot 2025-04-21 at 7.0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300" y="1497187"/>
            <a:ext cx="3362451" cy="2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8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78"/>
          <p:cNvSpPr/>
          <p:nvPr/>
        </p:nvSpPr>
        <p:spPr>
          <a:xfrm>
            <a:off x="276900" y="11353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78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</a:t>
            </a:r>
            <a:endParaRPr sz="4100"/>
          </a:p>
        </p:txBody>
      </p:sp>
      <p:sp>
        <p:nvSpPr>
          <p:cNvPr id="736" name="Google Shape;736;p78"/>
          <p:cNvSpPr txBox="1"/>
          <p:nvPr>
            <p:ph idx="3" type="body"/>
          </p:nvPr>
        </p:nvSpPr>
        <p:spPr>
          <a:xfrm>
            <a:off x="328575" y="1242350"/>
            <a:ext cx="5091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Brightness: Average</a:t>
            </a:r>
            <a:endParaRPr sz="1700"/>
          </a:p>
          <a:p>
            <a:pPr indent="-33655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Takes the average of the brightness of all of the frames </a:t>
            </a:r>
            <a:endParaRPr sz="1700"/>
          </a:p>
          <a:p>
            <a:pPr indent="-33655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Helpful to identify if there is low </a:t>
            </a:r>
            <a:r>
              <a:rPr lang="en" sz="1700"/>
              <a:t>visibility</a:t>
            </a:r>
            <a:r>
              <a:rPr lang="en" sz="1700"/>
              <a:t> (low values)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Brightness: </a:t>
            </a:r>
            <a:r>
              <a:rPr lang="en" sz="1700"/>
              <a:t>Variance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Indicates how much brightness changes </a:t>
            </a:r>
            <a:endParaRPr sz="1700"/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High values are indication of going into a tunnel, bright headlights, sudden </a:t>
            </a:r>
            <a:r>
              <a:rPr lang="en" sz="1700"/>
              <a:t>brake</a:t>
            </a:r>
            <a:r>
              <a:rPr lang="en" sz="1700"/>
              <a:t> lights, etc. </a:t>
            </a:r>
            <a:endParaRPr sz="17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7" name="Google Shape;737;p78" title="Screenshot 2025-04-21 at 7.0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300" y="1497187"/>
            <a:ext cx="3362451" cy="2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79"/>
          <p:cNvSpPr/>
          <p:nvPr/>
        </p:nvSpPr>
        <p:spPr>
          <a:xfrm>
            <a:off x="-908525" y="22509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79"/>
          <p:cNvSpPr/>
          <p:nvPr/>
        </p:nvSpPr>
        <p:spPr>
          <a:xfrm>
            <a:off x="276900" y="11353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79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Feature Extraction (Summary)</a:t>
            </a:r>
            <a:endParaRPr sz="4100"/>
          </a:p>
        </p:txBody>
      </p:sp>
      <p:sp>
        <p:nvSpPr>
          <p:cNvPr id="745" name="Google Shape;745;p79"/>
          <p:cNvSpPr txBox="1"/>
          <p:nvPr>
            <p:ph idx="3" type="body"/>
          </p:nvPr>
        </p:nvSpPr>
        <p:spPr>
          <a:xfrm>
            <a:off x="328575" y="1242350"/>
            <a:ext cx="5091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Optical flow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Measures pixel movement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Used to identify hard braking, swerving, etc.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Edge density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Identifies </a:t>
            </a:r>
            <a:r>
              <a:rPr lang="en" sz="1600"/>
              <a:t>sudden</a:t>
            </a:r>
            <a:r>
              <a:rPr lang="en" sz="1600"/>
              <a:t> appearance of objects 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car/</a:t>
            </a:r>
            <a:r>
              <a:rPr lang="en" sz="1600"/>
              <a:t>pedestrian</a:t>
            </a:r>
            <a:r>
              <a:rPr lang="en" sz="1600"/>
              <a:t> enters frame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Brightness 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Measures</a:t>
            </a:r>
            <a:r>
              <a:rPr lang="en" sz="1600"/>
              <a:t> how bright the scene is</a:t>
            </a:r>
            <a:endParaRPr sz="1600"/>
          </a:p>
          <a:p>
            <a:pPr indent="-330200" lvl="1" marL="1371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Can help identify new headlights/</a:t>
            </a:r>
            <a:r>
              <a:rPr lang="en" sz="1600"/>
              <a:t>brake lights</a:t>
            </a:r>
            <a:r>
              <a:rPr lang="en" sz="1600"/>
              <a:t> in dark environments 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46" name="Google Shape;746;p79" title="Screenshot 2025-04-21 at 7.09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5300" y="1497187"/>
            <a:ext cx="3362451" cy="2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0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80"/>
          <p:cNvSpPr/>
          <p:nvPr/>
        </p:nvSpPr>
        <p:spPr>
          <a:xfrm>
            <a:off x="276900" y="1135325"/>
            <a:ext cx="47571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80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Model Honing </a:t>
            </a:r>
            <a:endParaRPr sz="4100"/>
          </a:p>
        </p:txBody>
      </p:sp>
      <p:sp>
        <p:nvSpPr>
          <p:cNvPr id="754" name="Google Shape;754;p80"/>
          <p:cNvSpPr txBox="1"/>
          <p:nvPr>
            <p:ph idx="3" type="body"/>
          </p:nvPr>
        </p:nvSpPr>
        <p:spPr>
          <a:xfrm>
            <a:off x="404775" y="1166150"/>
            <a:ext cx="4503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started with a Random Forest Classifier model, which had a 50% accuracy and 46% AUC </a:t>
            </a:r>
            <a:endParaRPr sz="1700"/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 implemented and compared </a:t>
            </a:r>
            <a:r>
              <a:rPr lang="en" sz="1700"/>
              <a:t>different</a:t>
            </a:r>
            <a:r>
              <a:rPr lang="en" sz="1700"/>
              <a:t> machine learning models to find the best one: </a:t>
            </a:r>
            <a:endParaRPr sz="17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RandomForest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Gradient Boosting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AdaBoost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SVC (Support Vector Classifier)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XGBoost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Etc…   —&gt;</a:t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55" name="Google Shape;755;p80" title="Screenshot 2025-04-20 at 10.59.5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975" y="1714650"/>
            <a:ext cx="4169500" cy="909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80" title="Screenshot 2025-04-20 at 11.00.36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3975" y="2734975"/>
            <a:ext cx="4169500" cy="72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80" title="Screenshot 2025-04-20 at 11.13.4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3975" y="3573050"/>
            <a:ext cx="4169501" cy="30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81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81"/>
          <p:cNvSpPr/>
          <p:nvPr/>
        </p:nvSpPr>
        <p:spPr>
          <a:xfrm>
            <a:off x="276900" y="1135325"/>
            <a:ext cx="47571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81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Model Honing </a:t>
            </a:r>
            <a:endParaRPr sz="4100"/>
          </a:p>
        </p:txBody>
      </p:sp>
      <p:sp>
        <p:nvSpPr>
          <p:cNvPr id="765" name="Google Shape;765;p81"/>
          <p:cNvSpPr txBox="1"/>
          <p:nvPr>
            <p:ph idx="3" type="body"/>
          </p:nvPr>
        </p:nvSpPr>
        <p:spPr>
          <a:xfrm>
            <a:off x="404775" y="1242350"/>
            <a:ext cx="4503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Feature scaling: 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We applied StandardScaler to normalize the features, which was particularly important for the SVC model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Hyperparameter tuning: 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We used GridSearchCV to find the optimal parameters for the SVC model, testing different values for C, kernel type, gamma, and class weights</a:t>
            </a:r>
            <a:endParaRPr sz="1300"/>
          </a:p>
        </p:txBody>
      </p:sp>
      <p:pic>
        <p:nvPicPr>
          <p:cNvPr id="766" name="Google Shape;766;p81" title="Screenshot 2025-04-22 at 11.27.5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700" y="1594800"/>
            <a:ext cx="3473626" cy="1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2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82"/>
          <p:cNvSpPr/>
          <p:nvPr/>
        </p:nvSpPr>
        <p:spPr>
          <a:xfrm>
            <a:off x="276900" y="1135325"/>
            <a:ext cx="47571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82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Model Honing </a:t>
            </a:r>
            <a:endParaRPr sz="4100"/>
          </a:p>
        </p:txBody>
      </p:sp>
      <p:sp>
        <p:nvSpPr>
          <p:cNvPr id="774" name="Google Shape;774;p82"/>
          <p:cNvSpPr txBox="1"/>
          <p:nvPr>
            <p:ph idx="3" type="body"/>
          </p:nvPr>
        </p:nvSpPr>
        <p:spPr>
          <a:xfrm>
            <a:off x="328575" y="1242350"/>
            <a:ext cx="45033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Earliest RandomForest: 45% accuracy, 0.51 AUC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Original SVC: 65% accuracy, 0.41 AUC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Best weighted ensemble: 57.5% accuracy, 0.52 AUC (.7 SVC and .3 XGBoost)</a:t>
            </a:r>
            <a:endParaRPr sz="1700">
              <a:solidFill>
                <a:srgbClr val="000000"/>
              </a:solidFill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-"/>
            </a:pPr>
            <a:r>
              <a:rPr lang="en" sz="1600">
                <a:solidFill>
                  <a:srgbClr val="000000"/>
                </a:solidFill>
              </a:rPr>
              <a:t>Class balancing: We attempted to use SMOTE for addressing class imbalance, and when that had dependency issues, we used scikit-learn's built-in class_weight parameter for SVC.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775" name="Google Shape;775;p82" title="Screenshot 2025-04-22 at 11.29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250" y="1871349"/>
            <a:ext cx="3850049" cy="17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3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83"/>
          <p:cNvSpPr/>
          <p:nvPr/>
        </p:nvSpPr>
        <p:spPr>
          <a:xfrm>
            <a:off x="276900" y="1135325"/>
            <a:ext cx="54285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83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783" name="Google Shape;783;p83"/>
          <p:cNvSpPr txBox="1"/>
          <p:nvPr>
            <p:ph idx="3" type="body"/>
          </p:nvPr>
        </p:nvSpPr>
        <p:spPr>
          <a:xfrm>
            <a:off x="394900" y="1242350"/>
            <a:ext cx="51831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We then ran our model on the test data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We wanted to be able to give each video in the test data a score</a:t>
            </a:r>
            <a:endParaRPr sz="1700">
              <a:solidFill>
                <a:srgbClr val="000000"/>
              </a:solidFill>
            </a:endParaRPr>
          </a:p>
          <a:p>
            <a:pPr indent="-3365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The test data that was provided contained 1,344 entries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The closer to 1 the score is the more likely it is that that video contains a crash or near miss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-"/>
            </a:pPr>
            <a:r>
              <a:rPr lang="en" sz="1700">
                <a:solidFill>
                  <a:srgbClr val="000000"/>
                </a:solidFill>
              </a:rPr>
              <a:t>Unfortunately it took a very long time to run the notebook (over 6 hours) and the notebook timed out so we were not able to see our scores for the entire test dataset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300"/>
          </a:p>
        </p:txBody>
      </p:sp>
      <p:pic>
        <p:nvPicPr>
          <p:cNvPr id="784" name="Google Shape;784;p83" title="Screenshot 2025-04-21 at 4.49.3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500" y="2571750"/>
            <a:ext cx="3135400" cy="20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83" title="Screenshot 2025-04-21 at 5.52.01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2388" y="628375"/>
            <a:ext cx="1998975" cy="161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83"/>
          <p:cNvSpPr txBox="1"/>
          <p:nvPr>
            <p:ph idx="3" type="body"/>
          </p:nvPr>
        </p:nvSpPr>
        <p:spPr>
          <a:xfrm>
            <a:off x="6215600" y="201800"/>
            <a:ext cx="2601900" cy="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Example (not our scores)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4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84"/>
          <p:cNvSpPr/>
          <p:nvPr/>
        </p:nvSpPr>
        <p:spPr>
          <a:xfrm>
            <a:off x="276900" y="1135325"/>
            <a:ext cx="42447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84"/>
          <p:cNvSpPr txBox="1"/>
          <p:nvPr>
            <p:ph type="title"/>
          </p:nvPr>
        </p:nvSpPr>
        <p:spPr>
          <a:xfrm>
            <a:off x="354300" y="201800"/>
            <a:ext cx="34635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794" name="Google Shape;794;p84"/>
          <p:cNvSpPr txBox="1"/>
          <p:nvPr>
            <p:ph idx="3" type="body"/>
          </p:nvPr>
        </p:nvSpPr>
        <p:spPr>
          <a:xfrm>
            <a:off x="369167" y="1242350"/>
            <a:ext cx="4052700" cy="3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decided to test our model on 5 random test videos 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 are using the combined-ensemble model and </a:t>
            </a:r>
            <a:r>
              <a:rPr lang="en" sz="1600"/>
              <a:t>neural</a:t>
            </a:r>
            <a:r>
              <a:rPr lang="en" sz="1600"/>
              <a:t> net model in this example</a:t>
            </a:r>
            <a:endParaRPr sz="1600"/>
          </a:p>
          <a:p>
            <a:pPr indent="-3302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Combined model is the top and </a:t>
            </a:r>
            <a:r>
              <a:rPr lang="en" sz="1600"/>
              <a:t>neural</a:t>
            </a:r>
            <a:r>
              <a:rPr lang="en" sz="1600"/>
              <a:t> net is the bottom image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test data we are given does not contain labels so we are not able to check if our predictions were correct</a:t>
            </a:r>
            <a:endParaRPr sz="1600"/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So we checked manually by printing out a few frames from each video </a:t>
            </a:r>
            <a:endParaRPr sz="1600"/>
          </a:p>
        </p:txBody>
      </p:sp>
      <p:pic>
        <p:nvPicPr>
          <p:cNvPr id="795" name="Google Shape;795;p84" title="Screenshot 2025-04-21 at 8.04.0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0000" y="1218326"/>
            <a:ext cx="4406098" cy="17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84" title="Screenshot 2025-04-21 at 8.05.1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000" y="2248576"/>
            <a:ext cx="4406097" cy="31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84" title="Screenshot 2025-04-21 at 8.05.02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0000" y="1927282"/>
            <a:ext cx="4406097" cy="2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84" title="Screenshot 2025-04-21 at 8.04.55 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0000" y="1560818"/>
            <a:ext cx="4406099" cy="218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84" title="Screenshot 2025-04-21 at 9.13.53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40000" y="3460554"/>
            <a:ext cx="4406100" cy="771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84" title="Screenshot 2025-04-20 at 11.00.36 PM.png"/>
          <p:cNvPicPr preferRelativeResize="0"/>
          <p:nvPr/>
        </p:nvPicPr>
        <p:blipFill rotWithShape="1">
          <a:blip r:embed="rId8">
            <a:alphaModFix/>
          </a:blip>
          <a:srcRect b="0" l="0" r="0" t="69890"/>
          <a:stretch/>
        </p:blipFill>
        <p:spPr>
          <a:xfrm>
            <a:off x="4758300" y="781152"/>
            <a:ext cx="4169500" cy="2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84" title="Screenshot 2025-04-20 at 11.13.41 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58300" y="3054725"/>
            <a:ext cx="4169501" cy="307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5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85"/>
          <p:cNvSpPr/>
          <p:nvPr/>
        </p:nvSpPr>
        <p:spPr>
          <a:xfrm>
            <a:off x="276900" y="1135325"/>
            <a:ext cx="8549100" cy="98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85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809" name="Google Shape;809;p85"/>
          <p:cNvSpPr txBox="1"/>
          <p:nvPr>
            <p:ph idx="3" type="body"/>
          </p:nvPr>
        </p:nvSpPr>
        <p:spPr>
          <a:xfrm>
            <a:off x="369175" y="1166150"/>
            <a:ext cx="8111100" cy="5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looking at 8 frames, it looks there is no crash in this video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Our models predicted that this video would have the label 0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Which represents safe driving, so this </a:t>
            </a:r>
            <a:r>
              <a:rPr lang="en"/>
              <a:t>prediction</a:t>
            </a:r>
            <a:r>
              <a:rPr lang="en"/>
              <a:t> looks to be correct</a:t>
            </a:r>
            <a:endParaRPr/>
          </a:p>
        </p:txBody>
      </p:sp>
      <p:pic>
        <p:nvPicPr>
          <p:cNvPr id="810" name="Google Shape;810;p85" title="Screenshot 2025-04-21 at 8.04.0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150" y="466774"/>
            <a:ext cx="6188549" cy="245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85" title="Screenshot 2025-04-21 at 8.35.3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00" y="2346325"/>
            <a:ext cx="3959901" cy="2320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85" title="Screenshot 2025-04-21 at 8.35.40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6269" y="2346325"/>
            <a:ext cx="3948056" cy="232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85" title="Screenshot 2025-04-21 at 9.13.53 PM.png"/>
          <p:cNvPicPr preferRelativeResize="0"/>
          <p:nvPr/>
        </p:nvPicPr>
        <p:blipFill rotWithShape="1">
          <a:blip r:embed="rId6">
            <a:alphaModFix/>
          </a:blip>
          <a:srcRect b="79312" l="0" r="0" t="0"/>
          <a:stretch/>
        </p:blipFill>
        <p:spPr>
          <a:xfrm>
            <a:off x="3009950" y="767924"/>
            <a:ext cx="5517151" cy="199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6"/>
          <p:cNvSpPr/>
          <p:nvPr/>
        </p:nvSpPr>
        <p:spPr>
          <a:xfrm>
            <a:off x="125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86"/>
          <p:cNvSpPr/>
          <p:nvPr/>
        </p:nvSpPr>
        <p:spPr>
          <a:xfrm>
            <a:off x="276900" y="1135325"/>
            <a:ext cx="8549100" cy="98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86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821" name="Google Shape;821;p86"/>
          <p:cNvSpPr txBox="1"/>
          <p:nvPr>
            <p:ph idx="3" type="body"/>
          </p:nvPr>
        </p:nvSpPr>
        <p:spPr>
          <a:xfrm>
            <a:off x="369175" y="1166150"/>
            <a:ext cx="8111100" cy="5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looking at 8 frames, it looks there is no crash in this video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Our model predicted that this video would have the label 0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Which represents safe driving, so this prediction looks to be correct</a:t>
            </a:r>
            <a:endParaRPr/>
          </a:p>
        </p:txBody>
      </p:sp>
      <p:pic>
        <p:nvPicPr>
          <p:cNvPr id="822" name="Google Shape;822;p86" title="Screenshot 2025-04-21 at 8.04.5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2600" y="439978"/>
            <a:ext cx="6251100" cy="31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86" title="Screenshot 2025-04-21 at 8.46.3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05" y="2379225"/>
            <a:ext cx="4139674" cy="24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86" title="Screenshot 2025-04-21 at 8.46.4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7463" y="2379225"/>
            <a:ext cx="4205013" cy="2428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86" title="Screenshot 2025-04-21 at 9.13.53 PM.png"/>
          <p:cNvPicPr preferRelativeResize="0"/>
          <p:nvPr/>
        </p:nvPicPr>
        <p:blipFill rotWithShape="1">
          <a:blip r:embed="rId6">
            <a:alphaModFix/>
          </a:blip>
          <a:srcRect b="54943" l="0" r="0" t="19471"/>
          <a:stretch/>
        </p:blipFill>
        <p:spPr>
          <a:xfrm>
            <a:off x="3135650" y="811950"/>
            <a:ext cx="5173151" cy="23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7"/>
          <p:cNvSpPr/>
          <p:nvPr/>
        </p:nvSpPr>
        <p:spPr>
          <a:xfrm>
            <a:off x="495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87"/>
          <p:cNvSpPr/>
          <p:nvPr/>
        </p:nvSpPr>
        <p:spPr>
          <a:xfrm>
            <a:off x="276900" y="1135325"/>
            <a:ext cx="8549100" cy="98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87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833" name="Google Shape;833;p87"/>
          <p:cNvSpPr txBox="1"/>
          <p:nvPr>
            <p:ph idx="3" type="body"/>
          </p:nvPr>
        </p:nvSpPr>
        <p:spPr>
          <a:xfrm>
            <a:off x="369175" y="1166150"/>
            <a:ext cx="81111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looking at 8 frames, it looks there is probably no crash in this video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Our models predicted that this video would have the label 0/1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 one model was most likely correct while the other was not</a:t>
            </a:r>
            <a:endParaRPr/>
          </a:p>
        </p:txBody>
      </p:sp>
      <p:pic>
        <p:nvPicPr>
          <p:cNvPr id="834" name="Google Shape;834;p87" title="Screenshot 2025-04-21 at 8.05.0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750" y="464897"/>
            <a:ext cx="6307150" cy="28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7" title="Screenshot 2025-04-21 at 8.51.5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700" y="2332800"/>
            <a:ext cx="4177297" cy="24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87" title="Screenshot 2025-04-21 at 8.52.07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1605" y="2332800"/>
            <a:ext cx="4292096" cy="242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87" title="Screenshot 2025-04-21 at 9.13.53 PM.png"/>
          <p:cNvPicPr preferRelativeResize="0"/>
          <p:nvPr/>
        </p:nvPicPr>
        <p:blipFill rotWithShape="1">
          <a:blip r:embed="rId6">
            <a:alphaModFix/>
          </a:blip>
          <a:srcRect b="39101" l="0" r="0" t="37749"/>
          <a:stretch/>
        </p:blipFill>
        <p:spPr>
          <a:xfrm>
            <a:off x="3001900" y="815500"/>
            <a:ext cx="5671701" cy="22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88"/>
          <p:cNvSpPr/>
          <p:nvPr/>
        </p:nvSpPr>
        <p:spPr>
          <a:xfrm>
            <a:off x="-26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88"/>
          <p:cNvSpPr/>
          <p:nvPr/>
        </p:nvSpPr>
        <p:spPr>
          <a:xfrm>
            <a:off x="276900" y="1135325"/>
            <a:ext cx="8549100" cy="98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88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845" name="Google Shape;845;p88"/>
          <p:cNvSpPr txBox="1"/>
          <p:nvPr>
            <p:ph idx="3" type="body"/>
          </p:nvPr>
        </p:nvSpPr>
        <p:spPr>
          <a:xfrm>
            <a:off x="369175" y="1166150"/>
            <a:ext cx="81111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looking at 8 frames, it looks there is probably no crash in this video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Our model predicted that this video would have the label 1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Which represents a crash or near crash, so this prediction looks to be incorrect</a:t>
            </a:r>
            <a:endParaRPr/>
          </a:p>
        </p:txBody>
      </p:sp>
      <p:pic>
        <p:nvPicPr>
          <p:cNvPr id="846" name="Google Shape;846;p88" title="Screenshot 2025-04-21 at 8.05.10 PM.png"/>
          <p:cNvPicPr preferRelativeResize="0"/>
          <p:nvPr/>
        </p:nvPicPr>
        <p:blipFill rotWithShape="1">
          <a:blip r:embed="rId3">
            <a:alphaModFix/>
          </a:blip>
          <a:srcRect b="50072" l="0" r="0" t="0"/>
          <a:stretch/>
        </p:blipFill>
        <p:spPr>
          <a:xfrm>
            <a:off x="2642600" y="503225"/>
            <a:ext cx="6251099" cy="221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88" title="Screenshot 2025-04-21 at 8.56.02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00" y="2327076"/>
            <a:ext cx="4241124" cy="245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88" title="Screenshot 2025-04-21 at 8.56.12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019" y="2327075"/>
            <a:ext cx="4241131" cy="2427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88" title="Screenshot 2025-04-21 at 9.13.53 PM.png"/>
          <p:cNvPicPr preferRelativeResize="0"/>
          <p:nvPr/>
        </p:nvPicPr>
        <p:blipFill rotWithShape="1">
          <a:blip r:embed="rId6">
            <a:alphaModFix/>
          </a:blip>
          <a:srcRect b="18388" l="0" r="0" t="59680"/>
          <a:stretch/>
        </p:blipFill>
        <p:spPr>
          <a:xfrm>
            <a:off x="2887913" y="788125"/>
            <a:ext cx="5760471" cy="2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9"/>
          <p:cNvSpPr/>
          <p:nvPr/>
        </p:nvSpPr>
        <p:spPr>
          <a:xfrm>
            <a:off x="-26700" y="22413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89"/>
          <p:cNvSpPr/>
          <p:nvPr/>
        </p:nvSpPr>
        <p:spPr>
          <a:xfrm>
            <a:off x="276900" y="1135325"/>
            <a:ext cx="8549100" cy="98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89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Testing</a:t>
            </a:r>
            <a:endParaRPr sz="4100"/>
          </a:p>
        </p:txBody>
      </p:sp>
      <p:sp>
        <p:nvSpPr>
          <p:cNvPr id="857" name="Google Shape;857;p89"/>
          <p:cNvSpPr txBox="1"/>
          <p:nvPr>
            <p:ph idx="3" type="body"/>
          </p:nvPr>
        </p:nvSpPr>
        <p:spPr>
          <a:xfrm>
            <a:off x="369175" y="1166150"/>
            <a:ext cx="8111100" cy="8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After looking at 8 frames, it looks there is no crash in this video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Our models predicted that this video would have the label 0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Which represents safe driving, so this prediction looks to be correct</a:t>
            </a:r>
            <a:endParaRPr/>
          </a:p>
        </p:txBody>
      </p:sp>
      <p:pic>
        <p:nvPicPr>
          <p:cNvPr id="858" name="Google Shape;858;p89" title="Screenshot 2025-04-21 at 8.05.10 PM.png"/>
          <p:cNvPicPr preferRelativeResize="0"/>
          <p:nvPr/>
        </p:nvPicPr>
        <p:blipFill rotWithShape="1">
          <a:blip r:embed="rId3">
            <a:alphaModFix/>
          </a:blip>
          <a:srcRect b="0" l="0" r="0" t="45575"/>
          <a:stretch/>
        </p:blipFill>
        <p:spPr>
          <a:xfrm>
            <a:off x="2642600" y="476625"/>
            <a:ext cx="6251099" cy="24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89" title="Screenshot 2025-04-21 at 8.58.20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974" y="2241350"/>
            <a:ext cx="4363020" cy="251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9" title="Screenshot 2025-04-21 at 8.58.32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0575" y="2241350"/>
            <a:ext cx="4363024" cy="2514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89" title="Screenshot 2025-04-21 at 9.13.53 PM.png"/>
          <p:cNvPicPr preferRelativeResize="0"/>
          <p:nvPr/>
        </p:nvPicPr>
        <p:blipFill rotWithShape="1">
          <a:blip r:embed="rId6">
            <a:alphaModFix/>
          </a:blip>
          <a:srcRect b="0" l="0" r="0" t="76739"/>
          <a:stretch/>
        </p:blipFill>
        <p:spPr>
          <a:xfrm>
            <a:off x="2790500" y="785650"/>
            <a:ext cx="5921226" cy="2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0"/>
          <p:cNvSpPr/>
          <p:nvPr/>
        </p:nvSpPr>
        <p:spPr>
          <a:xfrm>
            <a:off x="-334025" y="226625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90"/>
          <p:cNvSpPr/>
          <p:nvPr/>
        </p:nvSpPr>
        <p:spPr>
          <a:xfrm>
            <a:off x="1951050" y="10497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90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What we learned  </a:t>
            </a:r>
            <a:endParaRPr sz="4100"/>
          </a:p>
        </p:txBody>
      </p:sp>
      <p:sp>
        <p:nvSpPr>
          <p:cNvPr id="869" name="Google Shape;869;p90"/>
          <p:cNvSpPr txBox="1"/>
          <p:nvPr>
            <p:ph idx="3" type="body"/>
          </p:nvPr>
        </p:nvSpPr>
        <p:spPr>
          <a:xfrm>
            <a:off x="2301150" y="1526125"/>
            <a:ext cx="4390200" cy="25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need for proper data processing </a:t>
            </a:r>
            <a:endParaRPr/>
          </a:p>
          <a:p>
            <a:pPr indent="-317500" lvl="0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Extracting meaningful features that our model can use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Hyperparameter </a:t>
            </a:r>
            <a:r>
              <a:rPr lang="en"/>
              <a:t>tuning</a:t>
            </a:r>
            <a:r>
              <a:rPr lang="en"/>
              <a:t> and model selection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Finding/tuning the right model prevents overfitting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Optical flow was a key </a:t>
            </a:r>
            <a:r>
              <a:rPr lang="en"/>
              <a:t>factor</a:t>
            </a:r>
            <a:r>
              <a:rPr lang="en"/>
              <a:t> in finding potential crash motions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Running time creates a huge set back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1"/>
          <p:cNvSpPr/>
          <p:nvPr/>
        </p:nvSpPr>
        <p:spPr>
          <a:xfrm>
            <a:off x="125700" y="2296700"/>
            <a:ext cx="7878300" cy="2512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91"/>
          <p:cNvSpPr/>
          <p:nvPr/>
        </p:nvSpPr>
        <p:spPr>
          <a:xfrm>
            <a:off x="1951050" y="1074725"/>
            <a:ext cx="5241900" cy="352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91"/>
          <p:cNvSpPr txBox="1"/>
          <p:nvPr>
            <p:ph type="title"/>
          </p:nvPr>
        </p:nvSpPr>
        <p:spPr>
          <a:xfrm>
            <a:off x="354300" y="201800"/>
            <a:ext cx="8283900" cy="9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Issues Encountered</a:t>
            </a:r>
            <a:endParaRPr sz="3400"/>
          </a:p>
        </p:txBody>
      </p:sp>
      <p:sp>
        <p:nvSpPr>
          <p:cNvPr id="877" name="Google Shape;877;p91"/>
          <p:cNvSpPr txBox="1"/>
          <p:nvPr>
            <p:ph idx="3" type="body"/>
          </p:nvPr>
        </p:nvSpPr>
        <p:spPr>
          <a:xfrm>
            <a:off x="2301150" y="1246325"/>
            <a:ext cx="4390200" cy="31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Long processing times especially during frame processing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 the future we could attempt processing frames at a lower resolution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Poor model performance 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Frame analysis: the fixed number of frames can miss important events in the video </a:t>
            </a:r>
            <a:endParaRPr/>
          </a:p>
          <a:p>
            <a:pPr indent="-3175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Might have been better to analyze X amount of frames per second instead of X frames per video</a:t>
            </a:r>
            <a:endParaRPr/>
          </a:p>
          <a:p>
            <a:pPr indent="-3175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Lots of trial and error- our first time working with videos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